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5"/>
  </p:sldMasterIdLst>
  <p:notesMasterIdLst>
    <p:notesMasterId r:id="rId7"/>
  </p:notesMasterIdLst>
  <p:sldIdLst>
    <p:sldId id="339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B1411B-A0F4-CD51-3B88-FD302D762C5A}" name="Melissa Nestoruk" initials="MN" userId="S::Melissa.nestoruk@mlacanada.com::6d9d43a0-6b08-4ec9-8485-85a9c60048fc" providerId="AD"/>
  <p188:author id="{EE74442C-26B2-382B-A717-465648A15770}" name="Nick Frappell" initials="NF" userId="S::nick.frappell@mlacanada.com::fac504bb-81cb-477d-9952-afe90325acdf" providerId="AD"/>
  <p188:author id="{4C01065A-2E05-DE76-8C5F-78CCB44E675B}" name="Garde MacDonald" initials="GM" userId="S::garde.macdonald@mlacanada.com::47d7b7a3-754d-4449-a6ea-ef2a227797e0" providerId="AD"/>
  <p188:author id="{F0E9435C-5610-4DE0-E7FE-E3FF0E54F57C}" name="Tina Wang" initials="TW" userId="S::tina.wang@mlacanada.com::e8cd1c20-9620-4929-8657-c78f9b3f815d" providerId="AD"/>
  <p188:author id="{E35FDB90-8716-4E94-DDB9-8DD5856C5FC5}" name="Surjan Pahal" initials="SP" userId="S::surjan.pahal@mlacanada.com::8d680204-9b7e-461c-b8c0-f2062d15fe6e" providerId="AD"/>
  <p188:author id="{94BBFEA3-AEFE-4576-1A30-C9E7B1708375}" name="Emily Fung" initials="EF" userId="S::emily.fung@mlacanada.com::023d5e0c-546b-4b06-861f-1158205f60cc" providerId="AD"/>
  <p188:author id="{FA9AC2AE-73DC-6E90-10F6-88B9B4BA306B}" name="Sara Ruthnum" initials="" userId="S::sara.ruthnum@mlacanada.com::c10fcef3-1631-408e-9b6a-36bd8b27369f" providerId="AD"/>
  <p188:author id="{0DE7EAF8-682F-9098-6865-F0D448A1C08F}" name="Brittany Reimer" initials="" userId="S::brittany.r@mlacanada.com::c034d1ae-6866-48e2-a718-d655243ffd15" providerId="AD"/>
  <p188:author id="{EECF3CFC-9D25-7444-430B-E09B80F43708}" name="Charan Sidhu" initials="CS" userId="S::charan.sidhu@mlacanada.com::08753c15-4fc9-4806-a428-59cec6aa05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4F3"/>
    <a:srgbClr val="F2F2F2"/>
    <a:srgbClr val="E3E4E5"/>
    <a:srgbClr val="DAE3F3"/>
    <a:srgbClr val="025F83"/>
    <a:srgbClr val="F3F1F2"/>
    <a:srgbClr val="AFAFAF"/>
    <a:srgbClr val="006689"/>
    <a:srgbClr val="5C6670"/>
    <a:srgbClr val="C03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4" autoAdjust="0"/>
    <p:restoredTop sz="96966" autoAdjust="0"/>
  </p:normalViewPr>
  <p:slideViewPr>
    <p:cSldViewPr snapToGrid="0">
      <p:cViewPr>
        <p:scale>
          <a:sx n="66" d="100"/>
          <a:sy n="66" d="100"/>
        </p:scale>
        <p:origin x="2712" y="10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0B880-5F99-4140-B5FB-0A481B83207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30E3F-E151-0545-8D9F-6193DD920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89366-4786-DD22-A8E2-48F15B11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9FC55-E05B-C52E-45BA-6C8C73B69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E6226-5F75-FF61-565A-3F2E2CBFD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A6718-621C-7522-B6A3-D80C18C29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30E3F-E151-0545-8D9F-6193DD920DD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78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E586EE8-C6CA-E7DE-06F2-40792377A00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807412" y="59957"/>
            <a:ext cx="10034817" cy="667062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1FEE74-0F58-D30B-C6D7-379922D17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4">
            <a:off x="-2479789" y="2554751"/>
            <a:ext cx="5885782" cy="896212"/>
          </a:xfrm>
        </p:spPr>
        <p:txBody>
          <a:bodyPr/>
          <a:lstStyle>
            <a:lvl1pPr algn="r">
              <a:defRPr sz="3300">
                <a:latin typeface="Butler"/>
                <a:ea typeface="Butler"/>
                <a:cs typeface="Butler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Vertical Content Placeholder 8">
            <a:extLst>
              <a:ext uri="{FF2B5EF4-FFF2-40B4-BE49-F238E27FC236}">
                <a16:creationId xmlns:a16="http://schemas.microsoft.com/office/drawing/2014/main" id="{E0E59C96-7B11-845F-CE68-EBF2AC077C0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 rot="10799991">
            <a:off x="911189" y="60890"/>
            <a:ext cx="812801" cy="5884858"/>
          </a:xfrm>
        </p:spPr>
        <p:txBody>
          <a:bodyPr vert="eaVert"/>
          <a:lstStyle>
            <a:lvl1pPr marL="0" indent="0" algn="r">
              <a:spcBef>
                <a:spcPts val="0"/>
              </a:spcBef>
              <a:buNone/>
              <a:defRPr>
                <a:solidFill>
                  <a:srgbClr val="AFAFAF"/>
                </a:solidFill>
                <a:latin typeface="Butler"/>
                <a:ea typeface="Butler"/>
                <a:cs typeface="Butle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5299220"/>
      </p:ext>
    </p:extLst>
  </p:cSld>
  <p:clrMapOvr>
    <a:masterClrMapping/>
  </p:clrMapOvr>
  <p:transition spd="med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F1BAD74-E8A4-75E0-219A-D6F200F5F56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3222" y="2244733"/>
            <a:ext cx="10900580" cy="3932221"/>
          </a:xfrm>
        </p:spPr>
        <p:txBody>
          <a:bodyPr/>
          <a:lstStyle>
            <a:lvl1pPr>
              <a:defRPr sz="1800">
                <a:latin typeface="Montserrat Light"/>
                <a:ea typeface="Montserrat Light"/>
                <a:cs typeface="Montserrat Light"/>
              </a:defRPr>
            </a:lvl1pPr>
            <a:lvl2pPr>
              <a:defRPr sz="1600">
                <a:latin typeface="Montserrat Light"/>
                <a:ea typeface="Montserrat Light"/>
                <a:cs typeface="Montserrat Light"/>
              </a:defRPr>
            </a:lvl2pPr>
            <a:lvl3pPr>
              <a:defRPr sz="1400">
                <a:latin typeface="Montserrat Light"/>
                <a:ea typeface="Montserrat Light"/>
                <a:cs typeface="Montserrat Light"/>
              </a:defRPr>
            </a:lvl3pPr>
            <a:lvl4pPr>
              <a:defRPr sz="1200">
                <a:latin typeface="Montserrat Light"/>
                <a:ea typeface="Montserrat Light"/>
                <a:cs typeface="Montserrat Light"/>
              </a:defRPr>
            </a:lvl4pPr>
            <a:lvl5pPr>
              <a:defRPr sz="1200">
                <a:latin typeface="Montserrat Light"/>
                <a:ea typeface="Montserrat Light"/>
                <a:cs typeface="Montserrat 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937F30-6D1E-B444-5ABD-47050C141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222" y="794476"/>
            <a:ext cx="10900580" cy="896212"/>
          </a:xfrm>
        </p:spPr>
        <p:txBody>
          <a:bodyPr/>
          <a:lstStyle>
            <a:lvl1pPr>
              <a:defRPr sz="3300">
                <a:latin typeface="Butler"/>
                <a:ea typeface="Butler"/>
                <a:cs typeface="Butler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D8C8A00-DB2B-6A06-24DE-FA4F654800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3222" y="1454152"/>
            <a:ext cx="10900580" cy="65881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300">
                <a:solidFill>
                  <a:srgbClr val="AFAFAF"/>
                </a:solidFill>
                <a:latin typeface="Butler"/>
                <a:ea typeface="Butler"/>
                <a:cs typeface="Butle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829614"/>
      </p:ext>
    </p:extLst>
  </p:cSld>
  <p:clrMapOvr>
    <a:masterClrMapping/>
  </p:clrMapOvr>
  <p:transition spd="med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223" y="802431"/>
            <a:ext cx="10515600" cy="89620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300" b="0" i="0">
                <a:latin typeface="Butler" charset="0"/>
                <a:ea typeface="Butler" charset="0"/>
                <a:cs typeface="Butler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223" y="1833577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 i="0">
                <a:latin typeface="Montserrat Light" charset="0"/>
                <a:ea typeface="Montserrat Light" charset="0"/>
                <a:cs typeface="Montserrat Light" charset="0"/>
              </a:defRPr>
            </a:lvl1pPr>
            <a:lvl2pPr>
              <a:defRPr sz="1600" b="0" i="0">
                <a:latin typeface="Montserrat Light" charset="0"/>
                <a:ea typeface="Montserrat Light" charset="0"/>
                <a:cs typeface="Montserrat Light" charset="0"/>
              </a:defRPr>
            </a:lvl2pPr>
            <a:lvl3pPr>
              <a:defRPr sz="1400" b="0" i="0">
                <a:latin typeface="Montserrat Light" charset="0"/>
                <a:ea typeface="Montserrat Light" charset="0"/>
                <a:cs typeface="Montserrat Light" charset="0"/>
              </a:defRPr>
            </a:lvl3pPr>
            <a:lvl4pPr>
              <a:defRPr sz="1200" b="0" i="0">
                <a:latin typeface="Montserrat Light" charset="0"/>
                <a:ea typeface="Montserrat Light" charset="0"/>
                <a:cs typeface="Montserrat Light" charset="0"/>
              </a:defRPr>
            </a:lvl4pPr>
            <a:lvl5pPr>
              <a:defRPr sz="1200" b="0" i="0">
                <a:latin typeface="Montserrat Light" charset="0"/>
                <a:ea typeface="Montserrat Light" charset="0"/>
                <a:cs typeface="Montserrat Ligh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3223" y="6557903"/>
            <a:ext cx="104718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389615" y="6350411"/>
            <a:ext cx="73053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0" i="0" baseline="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VANCOUVER WEST MARKET ANALYSIS |  OCTOBER 2025  |  REAL ESTATE INTELLIGENT</a:t>
            </a:r>
            <a:endParaRPr lang="en-US" sz="600" b="0" i="0" dirty="0">
              <a:solidFill>
                <a:schemeClr val="tx1"/>
              </a:solidFill>
              <a:latin typeface="Montserrat Light" charset="0"/>
              <a:ea typeface="Montserrat Light" charset="0"/>
              <a:cs typeface="Montserrat 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2FE1A-5501-844E-9EE9-ECCAF69BDB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29767" y="6055569"/>
            <a:ext cx="1285114" cy="85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60126"/>
      </p:ext>
    </p:extLst>
  </p:cSld>
  <p:clrMapOvr>
    <a:masterClrMapping/>
  </p:clrMapOvr>
  <p:transition spd="med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7ACF9-51E4-F755-69E4-BDF61BA0E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BED73-96BB-20B2-2763-20156031D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59B5F-7509-6202-A763-A92A77B7512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B267A-FD99-5D26-3506-E9096DC81F5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AE86B-FFED-2157-0ED7-A930FE0E8BF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0701815-5368-7044-A8F7-D96EC0F013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6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</p:sldLayoutIdLst>
  <p:transition spd="med">
    <p:wipe/>
  </p:transition>
  <p:hf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Helvetica Neue Thin"/>
          <a:ea typeface="Helvetica Neue Thin"/>
          <a:cs typeface="Helvetica Neue Thin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Helvetica Neue Thin"/>
          <a:ea typeface="Helvetica Neue Thin"/>
          <a:cs typeface="Helvetica Neue Thin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Helvetica Neue Thin"/>
          <a:ea typeface="Helvetica Neue Thin"/>
          <a:cs typeface="Helvetica Neue Thin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Helvetica Neue Thin"/>
          <a:ea typeface="Helvetica Neue Thin"/>
          <a:cs typeface="Helvetica Neue Thin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Helvetica Neue Thin"/>
          <a:ea typeface="Helvetica Neue Thin"/>
          <a:cs typeface="Helvetica Neue Thin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Helvetica Neue Thin"/>
          <a:ea typeface="Helvetica Neue Thin"/>
          <a:cs typeface="Helvetica Neue Thin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B1B326E-58A6-B103-3077-9CADE7C4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id="{81C6F33C-6221-764F-7991-721A02FCA0A8}"/>
              </a:ext>
            </a:extLst>
          </p:cNvPr>
          <p:cNvCxnSpPr/>
          <p:nvPr/>
        </p:nvCxnSpPr>
        <p:spPr>
          <a:xfrm>
            <a:off x="564765" y="1698640"/>
            <a:ext cx="30082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>
            <a:extLst>
              <a:ext uri="{FF2B5EF4-FFF2-40B4-BE49-F238E27FC236}">
                <a16:creationId id="{B83FC80F-3AF9-BC4C-2926-DD4F1BF160AD}"/>
              </a:ext>
            </a:extLst>
          </p:cNvPr>
          <p:cNvSpPr txBox="1">
            <a:spLocks/>
          </p:cNvSpPr>
          <p:nvPr/>
        </p:nvSpPr>
        <p:spPr>
          <a:xfrm>
            <a:off x="453222" y="802431"/>
            <a:ext cx="12178695" cy="66060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0" i="0" kern="1200">
                <a:solidFill>
                  <a:schemeClr val="tx1"/>
                </a:solidFill>
                <a:latin typeface="Butler" charset="0"/>
                <a:ea typeface="Butler" charset="0"/>
                <a:cs typeface="Butler" charset="0"/>
              </a:defRPr>
            </a:lvl1pPr>
          </a:lstStyle>
          <a:p>
            <a:r>
              <a:rPr lang="en-US" dirty="0"/>
              <a:t>Upcoming Concrete Condominium (Rezoning)</a:t>
            </a:r>
          </a:p>
        </p:txBody>
      </p:sp>
      <p:graphicFrame>
        <p:nvGraphicFramePr>
          <p:cNvPr id="9" name="Table 6">
            <a:extLst>
              <a:ext uri="{FF2B5EF4-FFF2-40B4-BE49-F238E27FC236}">
                <a16:creationId id="{0A65609C-B835-B078-5556-F17E38A60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138257093"/>
              </p:ext>
            </p:extLst>
          </p:nvPr>
        </p:nvGraphicFramePr>
        <p:xfrm>
          <a:off x="564765" y="1827509"/>
          <a:ext cx="11068219" cy="3962400"/>
        </p:xfrm>
        <a:graphic>
          <a:graphicData uri="http://schemas.openxmlformats.org/drawingml/2006/table">
            <a:tbl>
              <a:tblPr firstRow="1" firstCol="1" bandRow="1">
                <a:effectLst/>
              </a:tblPr>
              <a:tblGrid>
                <a:gridCol w="2265062">
                  <a:extLst>
                    <a:ext uri="{9D8B030D-6E8A-4147-A177-3AD203B41FA5}">
                      <a16:colId val="3860255634"/>
                    </a:ext>
                  </a:extLst>
                </a:gridCol>
                <a:gridCol w="3147461">
                  <a:extLst>
                    <a:ext uri="{9D8B030D-6E8A-4147-A177-3AD203B41FA5}">
                      <a16:colId val="3159434018"/>
                    </a:ext>
                  </a:extLst>
                </a:gridCol>
                <a:gridCol w="933651">
                  <a:extLst>
                    <a:ext uri="{9D8B030D-6E8A-4147-A177-3AD203B41FA5}">
                      <a16:colId val="2946201748"/>
                    </a:ext>
                  </a:extLst>
                </a:gridCol>
                <a:gridCol w="779646">
                  <a:extLst>
                    <a:ext uri="{9D8B030D-6E8A-4147-A177-3AD203B41FA5}">
                      <a16:colId val="2438328092"/>
                    </a:ext>
                  </a:extLst>
                </a:gridCol>
                <a:gridCol w="3942399">
                  <a:extLst>
                    <a:ext uri="{9D8B030D-6E8A-4147-A177-3AD203B41FA5}">
                      <a16:colId val="258865454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i="0" cap="all" dirty="0">
                          <a:latin typeface="Montserrat" pitchFamily="2" charset="77"/>
                          <a:ea typeface="Calibri" pitchFamily="34"/>
                          <a:cs typeface="Times New Roman"/>
                        </a:rPr>
                        <a:t>PROJECT</a:t>
                      </a:r>
                      <a:endParaRPr lang="en-CA" sz="1200" b="1" i="0" cap="all" dirty="0">
                        <a:latin typeface="Montserrat" pitchFamily="2" charset="77"/>
                        <a:ea typeface="Calibri" pitchFamily="34"/>
                        <a:cs typeface="Times New Roman"/>
                      </a:endParaRPr>
                    </a:p>
                  </a:txBody>
                  <a:tcPr marL="116933" marR="116933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i="0" cap="all" dirty="0">
                          <a:latin typeface="Montserrat" pitchFamily="2" charset="77"/>
                          <a:ea typeface="Calibri" pitchFamily="34"/>
                          <a:cs typeface="Times New Roman"/>
                        </a:rPr>
                        <a:t>DEVELOPER/Applicant</a:t>
                      </a:r>
                      <a:endParaRPr lang="en-CA" sz="1200" b="1" i="0" cap="all" dirty="0">
                        <a:latin typeface="Montserrat" pitchFamily="2" charset="77"/>
                        <a:ea typeface="Calibri" pitchFamily="34"/>
                        <a:cs typeface="Times New Roman"/>
                      </a:endParaRPr>
                    </a:p>
                  </a:txBody>
                  <a:tcPr marL="116933" marR="116933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CA" sz="1200" b="1" i="0" cap="all" dirty="0">
                          <a:latin typeface="Montserrat" pitchFamily="2" charset="77"/>
                          <a:ea typeface="Calibri" pitchFamily="34"/>
                          <a:cs typeface="Times New Roman"/>
                        </a:rPr>
                        <a:t>STORIES</a:t>
                      </a:r>
                    </a:p>
                  </a:txBody>
                  <a:tcPr marL="116933" marR="116933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i="0" cap="all" dirty="0">
                          <a:latin typeface="Montserrat" pitchFamily="2" charset="77"/>
                          <a:ea typeface="Calibri" pitchFamily="34"/>
                          <a:cs typeface="Times New Roman"/>
                        </a:rPr>
                        <a:t>UNITS</a:t>
                      </a:r>
                      <a:endParaRPr lang="en-CA" sz="1200" b="1" i="0" cap="all" dirty="0">
                        <a:latin typeface="Montserrat" pitchFamily="2" charset="77"/>
                        <a:ea typeface="Calibri" pitchFamily="34"/>
                        <a:cs typeface="Times New Roman"/>
                      </a:endParaRPr>
                    </a:p>
                  </a:txBody>
                  <a:tcPr marL="116933" marR="116933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i="0" cap="all" dirty="0">
                          <a:latin typeface="Montserrat" pitchFamily="2" charset="77"/>
                          <a:ea typeface="Calibri" pitchFamily="34"/>
                          <a:cs typeface="Times New Roman"/>
                        </a:rPr>
                        <a:t>STATUS / TIMING</a:t>
                      </a:r>
                      <a:endParaRPr lang="en-CA" sz="1200" b="1" i="0" cap="all" dirty="0">
                        <a:latin typeface="Montserrat" pitchFamily="2" charset="77"/>
                        <a:ea typeface="Calibri" pitchFamily="34"/>
                        <a:cs typeface="Times New Roman"/>
                      </a:endParaRPr>
                    </a:p>
                  </a:txBody>
                  <a:tcPr marL="116933" marR="116933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09946106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Anthem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Rezoning approved Mar 2023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val="3430099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MCC &amp; Townline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269</a:t>
                      </a:r>
                      <a:endParaRPr lang="en-CA" sz="1200" b="0" i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Rezoning approved Feb 2025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21097029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CA" sz="1200" b="0" i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Tria Homes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143</a:t>
                      </a:r>
                      <a:endParaRPr lang="en-CA" sz="1200" b="0" i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Rezoning approved Sep 2024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val="79740079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 err="1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Canderel</a:t>
                      </a: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Residential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122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RZ approved May 2025 / DP submitted Jun 2025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6603373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 err="1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Langara</a:t>
                      </a: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Gardens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Peterson &amp; Concert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1,430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RZ In Process / Design panel Oct 2023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val="2715166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 err="1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Amacon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29*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421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RZ submitted Jul 2025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60545003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Elysee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Polygon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176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RZ submitted Mar 2025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val="25856348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Bastion Development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86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RZ submitted Jul 2024 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357639259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Aria </a:t>
                      </a:r>
                      <a:r>
                        <a:rPr lang="en-US" sz="1200" b="0" i="0" kern="1200" dirty="0" err="1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Pacfiic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RZ submitted May 2024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val="30687398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Jericho Lands**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Canada Lands Co.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9,100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Policy statement approved Jan 2024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03042747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Oakridge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Westbank &amp; QuadReal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0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1,159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kern="1200" dirty="0">
                          <a:solidFill>
                            <a:srgbClr val="000000"/>
                          </a:solidFill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Future phases</a:t>
                      </a: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val="4019443525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200" b="1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CA" sz="90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CA" sz="90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200" b="1" i="0" dirty="0">
                          <a:effectLst/>
                          <a:latin typeface="Montserrat Light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13,096</a:t>
                      </a: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CA" sz="1200" b="0" i="0" dirty="0">
                        <a:effectLst/>
                        <a:latin typeface="Montserrat Light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6195" marR="36195" marT="0" marB="0" anchor="ctr">
                    <a:lnL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12742926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id="{8E5A1935-AF44-77EC-49C4-0E7F52DA45DD}"/>
              </a:ext>
            </a:extLst>
          </p:cNvPr>
          <p:cNvSpPr txBox="1"/>
          <p:nvPr/>
        </p:nvSpPr>
        <p:spPr>
          <a:xfrm>
            <a:off x="453222" y="5815824"/>
            <a:ext cx="7787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ontserrat Light" pitchFamily="2" charset="77"/>
              </a:rPr>
              <a:t>*</a:t>
            </a:r>
            <a:r>
              <a:rPr lang="en-CA" sz="800" dirty="0">
                <a:latin typeface="Montserrat Light" pitchFamily="2" charset="77"/>
              </a:rPr>
              <a:t>One 28-storey and one 29-storey building</a:t>
            </a:r>
          </a:p>
          <a:p>
            <a:r>
              <a:rPr lang="en-CA" sz="800" dirty="0">
                <a:latin typeface="Montserrat Light" pitchFamily="2" charset="77"/>
              </a:rPr>
              <a:t>**Leasehold</a:t>
            </a:r>
            <a:endParaRPr lang="en-US" sz="800" dirty="0">
              <a:latin typeface="Montserrat Light" pitchFamily="2" charset="77"/>
            </a:endParaRPr>
          </a:p>
        </p:txBody>
      </p:sp>
    </p:spTree>
    <p:extLst>
      <p:ext uri="{BB962C8B-B14F-4D97-AF65-F5344CB8AC3E}">
        <p14:creationId val="3934591494"/>
      </p:ext>
    </p:extLst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E92A55271EC4EBA6380D6843FAE20" ma:contentTypeVersion="27" ma:contentTypeDescription="Create a new document." ma:contentTypeScope="" ma:versionID="0b18e512dbc3800031f6f830793ac5a4">
  <xsd:schema xmlns:xsd="http://www.w3.org/2001/XMLSchema" xmlns:xs="http://www.w3.org/2001/XMLSchema" xmlns:p="http://schemas.microsoft.com/office/2006/metadata/properties" xmlns:ns1="http://schemas.microsoft.com/sharepoint/v3" xmlns:ns2="8d37f926-7bb4-414d-8857-16fdc596f072" xmlns:ns3="01c86524-7cbc-4d73-ae1f-c1984e037125" targetNamespace="http://schemas.microsoft.com/office/2006/metadata/properties" ma:root="true" ma:fieldsID="8a95d339ea2d4415bcb2537f1c9a2493" ns1:_="" ns2:_="" ns3:_="">
    <xsd:import namespace="http://schemas.microsoft.com/sharepoint/v3"/>
    <xsd:import namespace="8d37f926-7bb4-414d-8857-16fdc596f072"/>
    <xsd:import namespace="01c86524-7cbc-4d73-ae1f-c1984e03712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Time" minOccurs="0"/>
                <xsd:element ref="ns2:LastSharedByUser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2:_dlc_DocId" minOccurs="0"/>
                <xsd:element ref="ns2:_dlc_DocIdUrl" minOccurs="0"/>
                <xsd:element ref="ns2:_dlc_DocIdPersistId" minOccurs="0"/>
                <xsd:element ref="ns3:MLATags" minOccurs="0"/>
                <xsd:element ref="ns3:MediaServiceObjectDetectorVersions" minOccurs="0"/>
                <xsd:element ref="ns3:MediaServiceSearchProperties" minOccurs="0"/>
                <xsd:element ref="ns3:Imag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37f926-7bb4-414d-8857-16fdc596f0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Time" ma:index="10" nillable="true" ma:displayName="Last Shared By Time" ma:internalName="LastSharedByTime" ma:readOnly="true">
      <xsd:simpleType>
        <xsd:restriction base="dms:DateTime"/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d6908b65-1cd2-440b-b470-9f32a680a7a0}" ma:internalName="TaxCatchAll" ma:showField="CatchAllData" ma:web="8d37f926-7bb4-414d-8857-16fdc596f0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9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3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3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86524-7cbc-4d73-ae1f-c1984e0371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6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b85698b1-3936-4a95-9898-2ccab1cdd4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LATags" ma:index="32" nillable="true" ma:displayName="MLA Tags" ma:format="Dropdown" ma:internalName="MLATag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Hubspot"/>
                    <xsd:enumeration value="Hubspot Meetings"/>
                    <xsd:enumeration value="Deal"/>
                    <xsd:enumeration value="Contact"/>
                    <xsd:enumeration value="Merge"/>
                    <xsd:enumeration value="Realtor"/>
                    <xsd:enumeration value="Purchaser"/>
                    <xsd:enumeration value="Contact List"/>
                    <xsd:enumeration value="Call"/>
                    <xsd:enumeration value="Email"/>
                    <xsd:enumeration value="Outlook"/>
                    <xsd:enumeration value="Mobile"/>
                    <xsd:enumeration value="Prospect"/>
                    <xsd:enumeration value="View"/>
                    <xsd:enumeration value="Register"/>
                    <xsd:enumeration value="Meeting"/>
                    <xsd:enumeration value="Tasks"/>
                    <xsd:enumeration value="Task Queue"/>
                  </xsd:restriction>
                </xsd:simpleType>
              </xsd:element>
            </xsd:sequence>
          </xsd:extension>
        </xsd:complexContent>
      </xsd:complexType>
    </xsd:element>
    <xsd:element name="MediaServiceObjectDetectorVersions" ma:index="3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mage" ma:index="35" nillable="true" ma:displayName="Image" ma:format="Thumbnail" ma:internalName="Image">
      <xsd:simpleType>
        <xsd:restriction base="dms:Unknown"/>
      </xsd:simpleType>
    </xsd:element>
    <xsd:element name="MediaServiceBillingMetadata" ma:index="3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Flow_SignoffStatus xmlns="01c86524-7cbc-4d73-ae1f-c1984e037125" xsi:nil="true"/>
    <TaxCatchAll xmlns="8d37f926-7bb4-414d-8857-16fdc596f072" xsi:nil="true"/>
    <lcf76f155ced4ddcb4097134ff3c332f xmlns="01c86524-7cbc-4d73-ae1f-c1984e037125">
      <Terms xmlns="http://schemas.microsoft.com/office/infopath/2007/PartnerControls"/>
    </lcf76f155ced4ddcb4097134ff3c332f>
    <_dlc_DocId xmlns="8d37f926-7bb4-414d-8857-16fdc596f072">EZCYJ6VPKUVJ-1091194031-1450369</_dlc_DocId>
    <_dlc_DocIdUrl xmlns="8d37f926-7bb4-414d-8857-16fdc596f072">
      <Url>https://mlacanada.sharepoint.com/_layouts/15/DocIdRedir.aspx?ID=EZCYJ6VPKUVJ-1091194031-1450369</Url>
      <Description>EZCYJ6VPKUVJ-1091194031-1450369</Description>
    </_dlc_DocIdUrl>
    <MLATags xmlns="01c86524-7cbc-4d73-ae1f-c1984e037125" xsi:nil="true"/>
    <Image xmlns="01c86524-7cbc-4d73-ae1f-c1984e037125" xsi:nil="true"/>
  </documentManagement>
</p:properties>
</file>

<file path=customXml/itemProps1.xml><?xml version="1.0" encoding="utf-8"?>
<ds:datastoreItem xmlns:ds="http://schemas.openxmlformats.org/officeDocument/2006/customXml" ds:itemID="{11672FD6-850C-438B-9367-9E20C1C34DBB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BF9B42FA-A9C8-4419-BD8A-A75CAC6BFC26}">
  <ds:schemaRefs>
    <ds:schemaRef ds:uri="01c86524-7cbc-4d73-ae1f-c1984e037125"/>
    <ds:schemaRef ds:uri="8d37f926-7bb4-414d-8857-16fdc596f0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FAC9376-7253-46BB-9241-C9CB0EFE8CB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75FDD11-A78E-4647-9080-3663BB04BEAD}">
  <ds:schemaRefs>
    <ds:schemaRef ds:uri="8d37f926-7bb4-414d-8857-16fdc596f072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01c86524-7cbc-4d73-ae1f-c1984e03712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bfccccee-e243-41e3-9950-2e67667e3595}" enabled="0" method="" siteId="{bfccccee-e243-41e3-9950-2e67667e35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67946</TotalTime>
  <Words>184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Butler</vt:lpstr>
      <vt:lpstr>Calibri</vt:lpstr>
      <vt:lpstr>Helvetica Neue Thin</vt:lpstr>
      <vt:lpstr>Montserrat</vt:lpstr>
      <vt:lpstr>Montserrat Light</vt:lpstr>
      <vt:lpstr>2_Office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MLA POWERPOINT TEMPLATE</dc:title>
  <dc:creator>Melissa Nestoruk</dc:creator>
  <cp:lastModifiedBy>Melissa Nestoruk</cp:lastModifiedBy>
  <cp:revision>7</cp:revision>
  <dcterms:modified xsi:type="dcterms:W3CDTF">2026-07-08T03:17:42Z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0x010100F4FE92A55271EC4EBA6380D6843FAE20</vt:lpwstr>
  </property>
  <property fmtid="{D5CDD505-2E9C-101B-9397-08002B2CF9AE}" pid="3" name="Order">
    <vt:r8>37600</vt:r8>
  </property>
  <property fmtid="{D5CDD505-2E9C-101B-9397-08002B2CF9AE}" pid="4" name="_CopySource">
    <vt:lpwstr>https://mlacanada-my.sharepoint.com/personal/nikki_mlacanada_com/Documents/MLA PowerPoint Template.pptx</vt:lpwstr>
  </property>
  <property fmtid="{D5CDD505-2E9C-101B-9397-08002B2CF9AE}" pid="5" name="_dlc_DocIdItemGuid">
    <vt:lpwstr>e7e25c32-2ac3-4842-a6a5-1d367b41d9c8</vt:lpwstr>
  </property>
  <property fmtid="{D5CDD505-2E9C-101B-9397-08002B2CF9AE}" pid="6" name="MediaServiceImageTags">
    <vt:lpwstr/>
  </property>
</Properties>
</file>